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87F7EF-8FD6-28D5-4825-E00DAF3E1571}" v="20" dt="2026-03-20T10:28:03.9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ua Valentine" userId="S::joshua.valentine@player-ready.co.uk::22399e69-ac6d-4f1e-aae2-971e9761bb4f" providerId="AD" clId="Web-{EF87F7EF-8FD6-28D5-4825-E00DAF3E1571}"/>
    <pc:docChg chg="modSld">
      <pc:chgData name="Joshua Valentine" userId="S::joshua.valentine@player-ready.co.uk::22399e69-ac6d-4f1e-aae2-971e9761bb4f" providerId="AD" clId="Web-{EF87F7EF-8FD6-28D5-4825-E00DAF3E1571}" dt="2026-03-20T10:28:03.949" v="18" actId="1076"/>
      <pc:docMkLst>
        <pc:docMk/>
      </pc:docMkLst>
      <pc:sldChg chg="modSp">
        <pc:chgData name="Joshua Valentine" userId="S::joshua.valentine@player-ready.co.uk::22399e69-ac6d-4f1e-aae2-971e9761bb4f" providerId="AD" clId="Web-{EF87F7EF-8FD6-28D5-4825-E00DAF3E1571}" dt="2026-03-20T10:07:05.966" v="17" actId="20577"/>
        <pc:sldMkLst>
          <pc:docMk/>
          <pc:sldMk cId="0" sldId="257"/>
        </pc:sldMkLst>
        <pc:spChg chg="mod">
          <ac:chgData name="Joshua Valentine" userId="S::joshua.valentine@player-ready.co.uk::22399e69-ac6d-4f1e-aae2-971e9761bb4f" providerId="AD" clId="Web-{EF87F7EF-8FD6-28D5-4825-E00DAF3E1571}" dt="2026-03-20T10:07:05.966" v="17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">
        <pc:chgData name="Joshua Valentine" userId="S::joshua.valentine@player-ready.co.uk::22399e69-ac6d-4f1e-aae2-971e9761bb4f" providerId="AD" clId="Web-{EF87F7EF-8FD6-28D5-4825-E00DAF3E1571}" dt="2026-03-20T10:00:45.138" v="14" actId="20577"/>
        <pc:sldMkLst>
          <pc:docMk/>
          <pc:sldMk cId="0" sldId="259"/>
        </pc:sldMkLst>
        <pc:spChg chg="mod">
          <ac:chgData name="Joshua Valentine" userId="S::joshua.valentine@player-ready.co.uk::22399e69-ac6d-4f1e-aae2-971e9761bb4f" providerId="AD" clId="Web-{EF87F7EF-8FD6-28D5-4825-E00DAF3E1571}" dt="2026-03-20T10:00:39.810" v="12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Joshua Valentine" userId="S::joshua.valentine@player-ready.co.uk::22399e69-ac6d-4f1e-aae2-971e9761bb4f" providerId="AD" clId="Web-{EF87F7EF-8FD6-28D5-4825-E00DAF3E1571}" dt="2026-03-20T10:00:43.404" v="13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Joshua Valentine" userId="S::joshua.valentine@player-ready.co.uk::22399e69-ac6d-4f1e-aae2-971e9761bb4f" providerId="AD" clId="Web-{EF87F7EF-8FD6-28D5-4825-E00DAF3E1571}" dt="2026-03-20T10:00:45.138" v="14" actId="20577"/>
          <ac:spMkLst>
            <pc:docMk/>
            <pc:sldMk cId="0" sldId="259"/>
            <ac:spMk id="14" creationId="{00000000-0000-0000-0000-000000000000}"/>
          </ac:spMkLst>
        </pc:spChg>
      </pc:sldChg>
      <pc:sldChg chg="modSp">
        <pc:chgData name="Joshua Valentine" userId="S::joshua.valentine@player-ready.co.uk::22399e69-ac6d-4f1e-aae2-971e9761bb4f" providerId="AD" clId="Web-{EF87F7EF-8FD6-28D5-4825-E00DAF3E1571}" dt="2026-03-20T09:36:57.363" v="10" actId="20577"/>
        <pc:sldMkLst>
          <pc:docMk/>
          <pc:sldMk cId="0" sldId="261"/>
        </pc:sldMkLst>
        <pc:spChg chg="mod">
          <ac:chgData name="Joshua Valentine" userId="S::joshua.valentine@player-ready.co.uk::22399e69-ac6d-4f1e-aae2-971e9761bb4f" providerId="AD" clId="Web-{EF87F7EF-8FD6-28D5-4825-E00DAF3E1571}" dt="2026-03-20T09:36:49.003" v="4" actId="20577"/>
          <ac:spMkLst>
            <pc:docMk/>
            <pc:sldMk cId="0" sldId="261"/>
            <ac:spMk id="20" creationId="{00000000-0000-0000-0000-000000000000}"/>
          </ac:spMkLst>
        </pc:spChg>
        <pc:spChg chg="mod">
          <ac:chgData name="Joshua Valentine" userId="S::joshua.valentine@player-ready.co.uk::22399e69-ac6d-4f1e-aae2-971e9761bb4f" providerId="AD" clId="Web-{EF87F7EF-8FD6-28D5-4825-E00DAF3E1571}" dt="2026-03-20T09:36:47.956" v="2" actId="20577"/>
          <ac:spMkLst>
            <pc:docMk/>
            <pc:sldMk cId="0" sldId="261"/>
            <ac:spMk id="26" creationId="{00000000-0000-0000-0000-000000000000}"/>
          </ac:spMkLst>
        </pc:spChg>
        <pc:spChg chg="mod">
          <ac:chgData name="Joshua Valentine" userId="S::joshua.valentine@player-ready.co.uk::22399e69-ac6d-4f1e-aae2-971e9761bb4f" providerId="AD" clId="Web-{EF87F7EF-8FD6-28D5-4825-E00DAF3E1571}" dt="2026-03-20T09:36:54.988" v="9" actId="20577"/>
          <ac:spMkLst>
            <pc:docMk/>
            <pc:sldMk cId="0" sldId="261"/>
            <ac:spMk id="29" creationId="{00000000-0000-0000-0000-000000000000}"/>
          </ac:spMkLst>
        </pc:spChg>
        <pc:spChg chg="mod">
          <ac:chgData name="Joshua Valentine" userId="S::joshua.valentine@player-ready.co.uk::22399e69-ac6d-4f1e-aae2-971e9761bb4f" providerId="AD" clId="Web-{EF87F7EF-8FD6-28D5-4825-E00DAF3E1571}" dt="2026-03-20T09:36:57.363" v="10" actId="20577"/>
          <ac:spMkLst>
            <pc:docMk/>
            <pc:sldMk cId="0" sldId="261"/>
            <ac:spMk id="32" creationId="{00000000-0000-0000-0000-000000000000}"/>
          </ac:spMkLst>
        </pc:spChg>
      </pc:sldChg>
      <pc:sldChg chg="modSp">
        <pc:chgData name="Joshua Valentine" userId="S::joshua.valentine@player-ready.co.uk::22399e69-ac6d-4f1e-aae2-971e9761bb4f" providerId="AD" clId="Web-{EF87F7EF-8FD6-28D5-4825-E00DAF3E1571}" dt="2026-03-20T10:28:03.949" v="18" actId="1076"/>
        <pc:sldMkLst>
          <pc:docMk/>
          <pc:sldMk cId="0" sldId="262"/>
        </pc:sldMkLst>
        <pc:spChg chg="mod">
          <ac:chgData name="Joshua Valentine" userId="S::joshua.valentine@player-ready.co.uk::22399e69-ac6d-4f1e-aae2-971e9761bb4f" providerId="AD" clId="Web-{EF87F7EF-8FD6-28D5-4825-E00DAF3E1571}" dt="2026-03-20T10:28:03.949" v="18" actId="1076"/>
          <ac:spMkLst>
            <pc:docMk/>
            <pc:sldMk cId="0" sldId="262"/>
            <ac:spMk id="5" creationId="{00000000-0000-0000-0000-000000000000}"/>
          </ac:spMkLst>
        </pc:spChg>
      </pc:sldChg>
      <pc:sldChg chg="modSp">
        <pc:chgData name="Joshua Valentine" userId="S::joshua.valentine@player-ready.co.uk::22399e69-ac6d-4f1e-aae2-971e9761bb4f" providerId="AD" clId="Web-{EF87F7EF-8FD6-28D5-4825-E00DAF3E1571}" dt="2026-03-20T09:36:32.487" v="1" actId="20577"/>
        <pc:sldMkLst>
          <pc:docMk/>
          <pc:sldMk cId="0" sldId="264"/>
        </pc:sldMkLst>
        <pc:spChg chg="mod">
          <ac:chgData name="Joshua Valentine" userId="S::joshua.valentine@player-ready.co.uk::22399e69-ac6d-4f1e-aae2-971e9761bb4f" providerId="AD" clId="Web-{EF87F7EF-8FD6-28D5-4825-E00DAF3E1571}" dt="2026-03-20T09:36:32.487" v="1" actId="20577"/>
          <ac:spMkLst>
            <pc:docMk/>
            <pc:sldMk cId="0" sldId="264"/>
            <ac:spMk id="7" creationId="{00000000-0000-0000-0000-000000000000}"/>
          </ac:spMkLst>
        </pc:spChg>
        <pc:spChg chg="mod">
          <ac:chgData name="Joshua Valentine" userId="S::joshua.valentine@player-ready.co.uk::22399e69-ac6d-4f1e-aae2-971e9761bb4f" providerId="AD" clId="Web-{EF87F7EF-8FD6-28D5-4825-E00DAF3E1571}" dt="2026-03-20T09:36:29.284" v="0" actId="20577"/>
          <ac:spMkLst>
            <pc:docMk/>
            <pc:sldMk cId="0" sldId="264"/>
            <ac:spMk id="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34185C-C3A0-480E-A0F1-1E7928544018}" type="datetimeFigureOut"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21B72F-0F01-4CDA-BC03-CBD5A2B732E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820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F346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MUGEN</a:t>
            </a:r>
            <a:endParaRPr lang="en-US" sz="5400"/>
          </a:p>
        </p:txBody>
      </p:sp>
      <p:sp>
        <p:nvSpPr>
          <p:cNvPr id="7" name="Text 4"/>
          <p:cNvSpPr/>
          <p:nvPr/>
        </p:nvSpPr>
        <p:spPr>
          <a:xfrm>
            <a:off x="640080" y="2377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Beginner's Guide</a:t>
            </a:r>
            <a:endParaRPr lang="en-US" sz="320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Draw &amp; Add Your Own Character</a:t>
            </a:r>
            <a:endParaRPr lang="en-US" sz="1800"/>
          </a:p>
        </p:txBody>
      </p:sp>
      <p:sp>
        <p:nvSpPr>
          <p:cNvPr id="9" name="Shape 6"/>
          <p:cNvSpPr/>
          <p:nvPr/>
        </p:nvSpPr>
        <p:spPr>
          <a:xfrm>
            <a:off x="640080" y="4023360"/>
            <a:ext cx="22860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from sketch to playable fighter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MUGEN?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420624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71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Engine</a:t>
            </a:r>
            <a:endParaRPr lang="en-US" sz="1800"/>
          </a:p>
        </p:txBody>
      </p:sp>
      <p:sp>
        <p:nvSpPr>
          <p:cNvPr id="7" name="Text 4"/>
          <p:cNvSpPr/>
          <p:nvPr/>
        </p:nvSpPr>
        <p:spPr>
          <a:xfrm>
            <a:off x="914400" y="201168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MUGEN is a free, </a:t>
            </a:r>
            <a:r>
              <a:rPr lang="en-US" sz="13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customisable</a:t>
            </a: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 2D fighting game engine created by </a:t>
            </a:r>
            <a:r>
              <a:rPr lang="en-US" sz="1300" err="1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Elecbyte</a:t>
            </a: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1300"/>
          </a:p>
          <a:p>
            <a:pPr>
              <a:lnSpc>
                <a:spcPct val="115000"/>
              </a:lnSpc>
            </a:pPr>
            <a:r>
              <a:rPr lang="en-US" sz="130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It lets you build your own roster of fighters, stages, and screen packs all from scratch or downloaded from the community.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1300"/>
          </a:p>
          <a:p>
            <a:pPr marL="0" indent="0">
              <a:lnSpc>
                <a:spcPct val="115000"/>
              </a:lnSpc>
              <a:buNone/>
            </a:pPr>
            <a:r>
              <a:rPr lang="en-US" sz="13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Versions: MUGEN 1.0 and 1.1 are the most common. Make sure your content matches your engine version.</a:t>
            </a:r>
            <a:endParaRPr lang="en-US" sz="1300"/>
          </a:p>
        </p:txBody>
      </p:sp>
      <p:sp>
        <p:nvSpPr>
          <p:cNvPr id="8" name="Shape 5"/>
          <p:cNvSpPr/>
          <p:nvPr/>
        </p:nvSpPr>
        <p:spPr>
          <a:xfrm>
            <a:off x="5120640" y="1188720"/>
            <a:ext cx="3474720" cy="3108960"/>
          </a:xfrm>
          <a:prstGeom prst="rect">
            <a:avLst/>
          </a:prstGeom>
          <a:solidFill>
            <a:srgbClr val="1A1A2E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3716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Learn</a:t>
            </a:r>
            <a:endParaRPr lang="en-US" sz="18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20116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0644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your character sprites</a:t>
            </a:r>
            <a:endParaRPr lang="en-US" sz="125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235915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06440" y="2359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your file structure</a:t>
            </a:r>
            <a:endParaRPr lang="en-US" sz="125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2706624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806440" y="27066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basic .DEF file</a:t>
            </a:r>
            <a:endParaRPr lang="en-US" sz="125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3054096"/>
            <a:ext cx="274320" cy="2743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806440" y="305409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basic moves</a:t>
            </a:r>
            <a:endParaRPr lang="en-US" sz="125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3401568"/>
            <a:ext cx="274320" cy="27432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806440" y="34015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into MUGEN</a:t>
            </a:r>
            <a:endParaRPr lang="en-US" sz="125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3749040"/>
            <a:ext cx="274320" cy="27432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80644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troubleshoot</a:t>
            </a:r>
            <a:endParaRPr lang="en-US" sz="1250"/>
          </a:p>
        </p:txBody>
      </p:sp>
      <p:sp>
        <p:nvSpPr>
          <p:cNvPr id="23" name="Text 13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You'll Need</a:t>
            </a:r>
            <a:endParaRPr lang="en-US" sz="360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3200400"/>
          </a:xfrm>
          <a:prstGeom prst="rect">
            <a:avLst/>
          </a:prstGeom>
          <a:solidFill>
            <a:srgbClr val="FFF3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2560320" cy="54864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4630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Sprite Editor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pixel art tool to draw your character's frames.</a:t>
            </a:r>
            <a:endParaRPr lang="en-US" sz="1200"/>
          </a:p>
          <a:p>
            <a:pPr marL="0" indent="0" algn="ctr">
              <a:lnSpc>
                <a:spcPct val="115000"/>
              </a:lnSpc>
              <a:buNone/>
            </a:pPr>
            <a:endParaRPr lang="en-US" sz="120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Aseprite, GraphicsGale (free), or Piskel (browser-based).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3429000" y="1188720"/>
            <a:ext cx="2560320" cy="3200400"/>
          </a:xfrm>
          <a:prstGeom prst="rect">
            <a:avLst/>
          </a:prstGeom>
          <a:solidFill>
            <a:srgbClr val="F0F4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188720"/>
            <a:ext cx="2560320" cy="54864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46304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Text Editor</a:t>
            </a:r>
            <a:endParaRPr lang="en-US" sz="1600"/>
          </a:p>
        </p:txBody>
      </p:sp>
      <p:sp>
        <p:nvSpPr>
          <p:cNvPr id="13" name="Text 9"/>
          <p:cNvSpPr/>
          <p:nvPr/>
        </p:nvSpPr>
        <p:spPr>
          <a:xfrm>
            <a:off x="3611880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write .DEF, .CMD, and .CNS files in plain text.</a:t>
            </a:r>
            <a:endParaRPr lang="en-US" sz="1200"/>
          </a:p>
          <a:p>
            <a:pPr marL="0" indent="0" algn="ctr">
              <a:lnSpc>
                <a:spcPct val="115000"/>
              </a:lnSpc>
              <a:buNone/>
            </a:pPr>
            <a:endParaRPr lang="en-US" sz="120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Notepad++, VS Code, or even basic Notepad.</a:t>
            </a:r>
            <a:endParaRPr lang="en-US" sz="1200"/>
          </a:p>
        </p:txBody>
      </p:sp>
      <p:sp>
        <p:nvSpPr>
          <p:cNvPr id="14" name="Shape 10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FFFBF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188720"/>
            <a:ext cx="2560320" cy="54864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46304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Fighter Factory</a:t>
            </a:r>
            <a:endParaRPr lang="en-US" sz="1600"/>
          </a:p>
        </p:txBody>
      </p:sp>
      <p:sp>
        <p:nvSpPr>
          <p:cNvPr id="18" name="Text 13"/>
          <p:cNvSpPr/>
          <p:nvPr/>
        </p:nvSpPr>
        <p:spPr>
          <a:xfrm>
            <a:off x="6400800" y="27432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MUGEN tool for packing sprites into .SFF files and editing animations.</a:t>
            </a:r>
            <a:endParaRPr lang="en-US" sz="1200"/>
          </a:p>
          <a:p>
            <a:pPr marL="0" indent="0" algn="ctr">
              <a:lnSpc>
                <a:spcPct val="115000"/>
              </a:lnSpc>
              <a:buNone/>
            </a:pPr>
            <a:endParaRPr lang="en-US" sz="120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Fighter Factory 3 is the go-to standard.</a:t>
            </a:r>
            <a:endParaRPr lang="en-US" sz="1200"/>
          </a:p>
        </p:txBody>
      </p:sp>
      <p:sp>
        <p:nvSpPr>
          <p:cNvPr id="19" name="Text 14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1: Drawing Your Sprites</a:t>
            </a:r>
            <a:endParaRPr lang="en-US" sz="3200"/>
          </a:p>
        </p:txBody>
      </p:sp>
      <p:sp>
        <p:nvSpPr>
          <p:cNvPr id="5" name="Shape 2"/>
          <p:cNvSpPr/>
          <p:nvPr/>
        </p:nvSpPr>
        <p:spPr>
          <a:xfrm>
            <a:off x="640080" y="1188720"/>
            <a:ext cx="4023360" cy="34747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Sprite Rules</a:t>
            </a:r>
            <a:endParaRPr lang="en-US" sz="1800"/>
          </a:p>
        </p:txBody>
      </p:sp>
      <p:sp>
        <p:nvSpPr>
          <p:cNvPr id="7" name="Text 4"/>
          <p:cNvSpPr/>
          <p:nvPr/>
        </p:nvSpPr>
        <p:spPr>
          <a:xfrm>
            <a:off x="914400" y="1920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123444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at a consistent resolution (e.g. 100×120 pixels per frame)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914400" y="243230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1234440" y="24323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00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Use a solid background </a:t>
            </a:r>
            <a:r>
              <a:rPr lang="en-US" sz="1200" err="1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colour</a:t>
            </a:r>
            <a:r>
              <a:rPr lang="en-US" sz="1200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 (like magenta #FF00FF)  MUGEN makes this transparent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14400" y="29443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300"/>
          </a:p>
        </p:txBody>
      </p:sp>
      <p:sp>
        <p:nvSpPr>
          <p:cNvPr id="12" name="Text 9"/>
          <p:cNvSpPr/>
          <p:nvPr/>
        </p:nvSpPr>
        <p:spPr>
          <a:xfrm>
            <a:off x="1234440" y="29443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Keep your character centered on a consistent axis point across all frames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14400" y="345643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300"/>
          </a:p>
        </p:txBody>
      </p:sp>
      <p:sp>
        <p:nvSpPr>
          <p:cNvPr id="14" name="Text 11"/>
          <p:cNvSpPr/>
          <p:nvPr/>
        </p:nvSpPr>
        <p:spPr>
          <a:xfrm>
            <a:off x="1234440" y="34564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00">
                <a:solidFill>
                  <a:srgbClr val="F5F5F5"/>
                </a:solidFill>
                <a:latin typeface="Calibri"/>
                <a:ea typeface="Calibri"/>
                <a:cs typeface="Calibri"/>
              </a:rPr>
              <a:t>Start with the idle stance  usually 3–6 frames of subtle movement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14400" y="396849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1234440" y="39684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files logically: idle_01.png, walk_01.png, punch_01.png</a:t>
            </a:r>
            <a:endParaRPr lang="en-US" sz="1200"/>
          </a:p>
        </p:txBody>
      </p:sp>
      <p:sp>
        <p:nvSpPr>
          <p:cNvPr id="17" name="Shape 14"/>
          <p:cNvSpPr/>
          <p:nvPr/>
        </p:nvSpPr>
        <p:spPr>
          <a:xfrm>
            <a:off x="4937760" y="1188720"/>
            <a:ext cx="3657600" cy="3474720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18" name="Text 15"/>
          <p:cNvSpPr/>
          <p:nvPr/>
        </p:nvSpPr>
        <p:spPr>
          <a:xfrm>
            <a:off x="5212080" y="1371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Minimum Sprite Set</a:t>
            </a:r>
            <a:endParaRPr lang="en-US" sz="1800"/>
          </a:p>
        </p:txBody>
      </p:sp>
      <p:sp>
        <p:nvSpPr>
          <p:cNvPr id="19" name="Shape 16"/>
          <p:cNvSpPr/>
          <p:nvPr/>
        </p:nvSpPr>
        <p:spPr>
          <a:xfrm>
            <a:off x="5212080" y="1965960"/>
            <a:ext cx="109728" cy="2743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0" name="Text 17"/>
          <p:cNvSpPr/>
          <p:nvPr/>
        </p:nvSpPr>
        <p:spPr>
          <a:xfrm>
            <a:off x="544068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Stance</a:t>
            </a:r>
            <a:endParaRPr lang="en-US" sz="1200"/>
          </a:p>
        </p:txBody>
      </p:sp>
      <p:sp>
        <p:nvSpPr>
          <p:cNvPr id="21" name="Text 18"/>
          <p:cNvSpPr/>
          <p:nvPr/>
        </p:nvSpPr>
        <p:spPr>
          <a:xfrm>
            <a:off x="7223760" y="1965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frames</a:t>
            </a:r>
            <a:endParaRPr lang="en-US" sz="1200"/>
          </a:p>
        </p:txBody>
      </p:sp>
      <p:sp>
        <p:nvSpPr>
          <p:cNvPr id="22" name="Shape 19"/>
          <p:cNvSpPr/>
          <p:nvPr/>
        </p:nvSpPr>
        <p:spPr>
          <a:xfrm>
            <a:off x="5212080" y="2304288"/>
            <a:ext cx="109728" cy="2743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3" name="Text 20"/>
          <p:cNvSpPr/>
          <p:nvPr/>
        </p:nvSpPr>
        <p:spPr>
          <a:xfrm>
            <a:off x="5440680" y="2304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</a:t>
            </a:r>
            <a:endParaRPr lang="en-US" sz="1200"/>
          </a:p>
        </p:txBody>
      </p:sp>
      <p:sp>
        <p:nvSpPr>
          <p:cNvPr id="24" name="Text 21"/>
          <p:cNvSpPr/>
          <p:nvPr/>
        </p:nvSpPr>
        <p:spPr>
          <a:xfrm>
            <a:off x="7223760" y="2304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 frames</a:t>
            </a:r>
            <a:endParaRPr lang="en-US" sz="1200"/>
          </a:p>
        </p:txBody>
      </p:sp>
      <p:sp>
        <p:nvSpPr>
          <p:cNvPr id="25" name="Shape 22"/>
          <p:cNvSpPr/>
          <p:nvPr/>
        </p:nvSpPr>
        <p:spPr>
          <a:xfrm>
            <a:off x="5212080" y="2642616"/>
            <a:ext cx="109728" cy="2743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6" name="Text 23"/>
          <p:cNvSpPr/>
          <p:nvPr/>
        </p:nvSpPr>
        <p:spPr>
          <a:xfrm>
            <a:off x="5440680" y="26426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Crouching</a:t>
            </a:r>
            <a:endParaRPr lang="en-US" sz="1200"/>
          </a:p>
        </p:txBody>
      </p:sp>
      <p:sp>
        <p:nvSpPr>
          <p:cNvPr id="27" name="Text 24"/>
          <p:cNvSpPr/>
          <p:nvPr/>
        </p:nvSpPr>
        <p:spPr>
          <a:xfrm>
            <a:off x="7223760" y="26426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frames</a:t>
            </a:r>
            <a:endParaRPr lang="en-US" sz="1200"/>
          </a:p>
        </p:txBody>
      </p:sp>
      <p:sp>
        <p:nvSpPr>
          <p:cNvPr id="28" name="Shape 25"/>
          <p:cNvSpPr/>
          <p:nvPr/>
        </p:nvSpPr>
        <p:spPr>
          <a:xfrm>
            <a:off x="5212080" y="2980944"/>
            <a:ext cx="109728" cy="2743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9" name="Text 26"/>
          <p:cNvSpPr/>
          <p:nvPr/>
        </p:nvSpPr>
        <p:spPr>
          <a:xfrm>
            <a:off x="5440680" y="29809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Punch</a:t>
            </a:r>
            <a:endParaRPr lang="en-US" sz="1200"/>
          </a:p>
        </p:txBody>
      </p:sp>
      <p:sp>
        <p:nvSpPr>
          <p:cNvPr id="30" name="Text 27"/>
          <p:cNvSpPr/>
          <p:nvPr/>
        </p:nvSpPr>
        <p:spPr>
          <a:xfrm>
            <a:off x="7223760" y="29809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frames</a:t>
            </a:r>
            <a:endParaRPr lang="en-US" sz="1200"/>
          </a:p>
        </p:txBody>
      </p:sp>
      <p:sp>
        <p:nvSpPr>
          <p:cNvPr id="31" name="Shape 28"/>
          <p:cNvSpPr/>
          <p:nvPr/>
        </p:nvSpPr>
        <p:spPr>
          <a:xfrm>
            <a:off x="5212080" y="3319272"/>
            <a:ext cx="109728" cy="2743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2" name="Text 29"/>
          <p:cNvSpPr/>
          <p:nvPr/>
        </p:nvSpPr>
        <p:spPr>
          <a:xfrm>
            <a:off x="5440680" y="3319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Kick</a:t>
            </a:r>
            <a:endParaRPr lang="en-US" sz="1200"/>
          </a:p>
        </p:txBody>
      </p:sp>
      <p:sp>
        <p:nvSpPr>
          <p:cNvPr id="33" name="Text 30"/>
          <p:cNvSpPr/>
          <p:nvPr/>
        </p:nvSpPr>
        <p:spPr>
          <a:xfrm>
            <a:off x="7223760" y="33192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frames</a:t>
            </a:r>
            <a:endParaRPr lang="en-US" sz="1200"/>
          </a:p>
        </p:txBody>
      </p:sp>
      <p:sp>
        <p:nvSpPr>
          <p:cNvPr id="34" name="Shape 31"/>
          <p:cNvSpPr/>
          <p:nvPr/>
        </p:nvSpPr>
        <p:spPr>
          <a:xfrm>
            <a:off x="5212080" y="3657600"/>
            <a:ext cx="109728" cy="2743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5" name="Text 32"/>
          <p:cNvSpPr/>
          <p:nvPr/>
        </p:nvSpPr>
        <p:spPr>
          <a:xfrm>
            <a:off x="544068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Hit</a:t>
            </a:r>
            <a:endParaRPr lang="en-US" sz="1200"/>
          </a:p>
        </p:txBody>
      </p:sp>
      <p:sp>
        <p:nvSpPr>
          <p:cNvPr id="36" name="Text 33"/>
          <p:cNvSpPr/>
          <p:nvPr/>
        </p:nvSpPr>
        <p:spPr>
          <a:xfrm>
            <a:off x="722376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frames</a:t>
            </a:r>
            <a:endParaRPr lang="en-US" sz="1200"/>
          </a:p>
        </p:txBody>
      </p:sp>
      <p:sp>
        <p:nvSpPr>
          <p:cNvPr id="37" name="Shape 34"/>
          <p:cNvSpPr/>
          <p:nvPr/>
        </p:nvSpPr>
        <p:spPr>
          <a:xfrm>
            <a:off x="5212080" y="3995928"/>
            <a:ext cx="109728" cy="274320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38" name="Text 35"/>
          <p:cNvSpPr/>
          <p:nvPr/>
        </p:nvSpPr>
        <p:spPr>
          <a:xfrm>
            <a:off x="5440680" y="39959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Knocked Down</a:t>
            </a:r>
            <a:endParaRPr lang="en-US" sz="1200"/>
          </a:p>
        </p:txBody>
      </p:sp>
      <p:sp>
        <p:nvSpPr>
          <p:cNvPr id="39" name="Text 36"/>
          <p:cNvSpPr/>
          <p:nvPr/>
        </p:nvSpPr>
        <p:spPr>
          <a:xfrm>
            <a:off x="7223760" y="39959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frames</a:t>
            </a:r>
            <a:endParaRPr lang="en-US" sz="1200"/>
          </a:p>
        </p:txBody>
      </p:sp>
      <p:sp>
        <p:nvSpPr>
          <p:cNvPr id="40" name="Text 37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2: Packing Sprites into an SFF</a:t>
            </a:r>
            <a:endParaRPr lang="en-US" sz="3200"/>
          </a:p>
        </p:txBody>
      </p:sp>
      <p:sp>
        <p:nvSpPr>
          <p:cNvPr id="5" name="Shape 2"/>
          <p:cNvSpPr/>
          <p:nvPr/>
        </p:nvSpPr>
        <p:spPr>
          <a:xfrm>
            <a:off x="640080" y="1188720"/>
            <a:ext cx="78638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 SFF?</a:t>
            </a:r>
            <a:endParaRPr lang="en-US" sz="1800"/>
          </a:p>
        </p:txBody>
      </p:sp>
      <p:sp>
        <p:nvSpPr>
          <p:cNvPr id="7" name="Text 4"/>
          <p:cNvSpPr/>
          <p:nvPr/>
        </p:nvSpPr>
        <p:spPr>
          <a:xfrm>
            <a:off x="914400" y="1737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SFF (Sprite File Format) bundles all of your character's images into a single file that MUGEN can read. Each sprite is stored with a Group number and an Image number so the engine knows which animation they belong to.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64008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34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Fighter Factory 3:</a:t>
            </a:r>
            <a:endParaRPr lang="en-US" sz="1600"/>
          </a:p>
        </p:txBody>
      </p:sp>
      <p:sp>
        <p:nvSpPr>
          <p:cNvPr id="9" name="Shape 6"/>
          <p:cNvSpPr/>
          <p:nvPr/>
        </p:nvSpPr>
        <p:spPr>
          <a:xfrm>
            <a:off x="731520" y="3447288"/>
            <a:ext cx="274320" cy="2743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447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1188720" y="34107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Fighter Factory 3 and create a new project</a:t>
            </a:r>
            <a:endParaRPr lang="en-US" sz="1200"/>
          </a:p>
        </p:txBody>
      </p:sp>
      <p:sp>
        <p:nvSpPr>
          <p:cNvPr id="12" name="Shape 9"/>
          <p:cNvSpPr/>
          <p:nvPr/>
        </p:nvSpPr>
        <p:spPr>
          <a:xfrm>
            <a:off x="731520" y="3767328"/>
            <a:ext cx="274320" cy="2743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1188720" y="3730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Sprites section and click "Add" to import your PNG frames</a:t>
            </a:r>
            <a:endParaRPr lang="en-US" sz="1200"/>
          </a:p>
        </p:txBody>
      </p:sp>
      <p:sp>
        <p:nvSpPr>
          <p:cNvPr id="15" name="Shape 12"/>
          <p:cNvSpPr/>
          <p:nvPr/>
        </p:nvSpPr>
        <p:spPr>
          <a:xfrm>
            <a:off x="731520" y="4087368"/>
            <a:ext cx="274320" cy="2743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/>
          </a:p>
        </p:txBody>
      </p:sp>
      <p:sp>
        <p:nvSpPr>
          <p:cNvPr id="17" name="Text 14"/>
          <p:cNvSpPr/>
          <p:nvPr/>
        </p:nvSpPr>
        <p:spPr>
          <a:xfrm>
            <a:off x="1188720" y="40507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sprite a Group and Image number (Group 0 = Idle, 20 = Walk, 200 = Punch)</a:t>
            </a:r>
            <a:endParaRPr lang="en-US" sz="1200"/>
          </a:p>
        </p:txBody>
      </p:sp>
      <p:sp>
        <p:nvSpPr>
          <p:cNvPr id="18" name="Shape 15"/>
          <p:cNvSpPr/>
          <p:nvPr/>
        </p:nvSpPr>
        <p:spPr>
          <a:xfrm>
            <a:off x="731520" y="4407408"/>
            <a:ext cx="274320" cy="2743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/>
          </a:p>
        </p:txBody>
      </p:sp>
      <p:sp>
        <p:nvSpPr>
          <p:cNvPr id="20" name="Text 17"/>
          <p:cNvSpPr/>
          <p:nvPr/>
        </p:nvSpPr>
        <p:spPr>
          <a:xfrm>
            <a:off x="1188720" y="4370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axis point for each sprite (the ground-contact point, usually the feet)</a:t>
            </a:r>
            <a:endParaRPr lang="en-US" sz="1200"/>
          </a:p>
        </p:txBody>
      </p:sp>
      <p:sp>
        <p:nvSpPr>
          <p:cNvPr id="21" name="Shape 18"/>
          <p:cNvSpPr/>
          <p:nvPr/>
        </p:nvSpPr>
        <p:spPr>
          <a:xfrm>
            <a:off x="731520" y="4727448"/>
            <a:ext cx="274320" cy="27432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4727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/>
          </a:p>
        </p:txBody>
      </p:sp>
      <p:sp>
        <p:nvSpPr>
          <p:cNvPr id="23" name="Text 20"/>
          <p:cNvSpPr/>
          <p:nvPr/>
        </p:nvSpPr>
        <p:spPr>
          <a:xfrm>
            <a:off x="1188720" y="46908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yourcharacter.sff</a:t>
            </a:r>
            <a:endParaRPr lang="en-US" sz="1200"/>
          </a:p>
        </p:txBody>
      </p:sp>
      <p:sp>
        <p:nvSpPr>
          <p:cNvPr id="24" name="Text 2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3: File Structure</a:t>
            </a:r>
            <a:endParaRPr lang="en-US" sz="320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3931920" cy="3474720"/>
          </a:xfrm>
          <a:prstGeom prst="rect">
            <a:avLst/>
          </a:prstGeom>
          <a:solidFill>
            <a:srgbClr val="1E1E3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Character Folder</a:t>
            </a:r>
            <a:endParaRPr lang="en-US" sz="1600"/>
          </a:p>
        </p:txBody>
      </p:sp>
      <p:sp>
        <p:nvSpPr>
          <p:cNvPr id="7" name="Text 4"/>
          <p:cNvSpPr/>
          <p:nvPr/>
        </p:nvSpPr>
        <p:spPr>
          <a:xfrm>
            <a:off x="914400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MUGEN/</a:t>
            </a:r>
            <a:endParaRPr lang="en-US" sz="1100"/>
          </a:p>
        </p:txBody>
      </p:sp>
      <p:sp>
        <p:nvSpPr>
          <p:cNvPr id="8" name="Text 5"/>
          <p:cNvSpPr/>
          <p:nvPr/>
        </p:nvSpPr>
        <p:spPr>
          <a:xfrm>
            <a:off x="1188720" y="19476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chars/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1463040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mychar/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1737360" y="24597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mychar.def</a:t>
            </a:r>
            <a:endParaRPr lang="en-US" sz="1100"/>
          </a:p>
        </p:txBody>
      </p:sp>
      <p:sp>
        <p:nvSpPr>
          <p:cNvPr id="11" name="Text 8"/>
          <p:cNvSpPr/>
          <p:nvPr/>
        </p:nvSpPr>
        <p:spPr>
          <a:xfrm>
            <a:off x="1737360" y="2715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mychar.sff</a:t>
            </a:r>
            <a:endParaRPr lang="en-US" sz="1100"/>
          </a:p>
        </p:txBody>
      </p:sp>
      <p:sp>
        <p:nvSpPr>
          <p:cNvPr id="12" name="Text 9"/>
          <p:cNvSpPr/>
          <p:nvPr/>
        </p:nvSpPr>
        <p:spPr>
          <a:xfrm>
            <a:off x="1737360" y="2971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mychar.air</a:t>
            </a:r>
            <a:endParaRPr lang="en-US" sz="1100"/>
          </a:p>
        </p:txBody>
      </p:sp>
      <p:sp>
        <p:nvSpPr>
          <p:cNvPr id="13" name="Text 10"/>
          <p:cNvSpPr/>
          <p:nvPr/>
        </p:nvSpPr>
        <p:spPr>
          <a:xfrm>
            <a:off x="1737360" y="3227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mychar.cmd</a:t>
            </a:r>
            <a:endParaRPr lang="en-US" sz="1100"/>
          </a:p>
        </p:txBody>
      </p:sp>
      <p:sp>
        <p:nvSpPr>
          <p:cNvPr id="14" name="Text 11"/>
          <p:cNvSpPr/>
          <p:nvPr/>
        </p:nvSpPr>
        <p:spPr>
          <a:xfrm>
            <a:off x="1737360" y="34838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mychar.cns</a:t>
            </a:r>
            <a:endParaRPr lang="en-US" sz="1100"/>
          </a:p>
        </p:txBody>
      </p:sp>
      <p:sp>
        <p:nvSpPr>
          <p:cNvPr id="15" name="Text 12"/>
          <p:cNvSpPr/>
          <p:nvPr/>
        </p:nvSpPr>
        <p:spPr>
          <a:xfrm>
            <a:off x="1737360" y="37398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mychar.snd   (optional)</a:t>
            </a:r>
            <a:endParaRPr lang="en-US" sz="1100"/>
          </a:p>
        </p:txBody>
      </p:sp>
      <p:sp>
        <p:nvSpPr>
          <p:cNvPr id="16" name="Shape 13"/>
          <p:cNvSpPr/>
          <p:nvPr/>
        </p:nvSpPr>
        <p:spPr>
          <a:xfrm>
            <a:off x="4846320" y="1097280"/>
            <a:ext cx="3749040" cy="3474720"/>
          </a:xfrm>
          <a:prstGeom prst="rect">
            <a:avLst/>
          </a:prstGeom>
          <a:solidFill>
            <a:srgbClr val="F5F5F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12064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Files Explained</a:t>
            </a:r>
            <a:endParaRPr lang="en-US" sz="1600"/>
          </a:p>
        </p:txBody>
      </p:sp>
      <p:sp>
        <p:nvSpPr>
          <p:cNvPr id="18" name="Shape 15"/>
          <p:cNvSpPr/>
          <p:nvPr/>
        </p:nvSpPr>
        <p:spPr>
          <a:xfrm>
            <a:off x="5120640" y="1737360"/>
            <a:ext cx="640080" cy="320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1737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.DEF</a:t>
            </a:r>
            <a:endParaRPr lang="en-US" sz="1000"/>
          </a:p>
        </p:txBody>
      </p:sp>
      <p:sp>
        <p:nvSpPr>
          <p:cNvPr id="20" name="Text 17"/>
          <p:cNvSpPr/>
          <p:nvPr/>
        </p:nvSpPr>
        <p:spPr>
          <a:xfrm>
            <a:off x="589788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Master config points to all other files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120640" y="2148840"/>
            <a:ext cx="640080" cy="320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2" name="Text 19"/>
          <p:cNvSpPr/>
          <p:nvPr/>
        </p:nvSpPr>
        <p:spPr>
          <a:xfrm>
            <a:off x="5120640" y="21488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.SFF</a:t>
            </a:r>
            <a:endParaRPr lang="en-US" sz="1000"/>
          </a:p>
        </p:txBody>
      </p:sp>
      <p:sp>
        <p:nvSpPr>
          <p:cNvPr id="23" name="Text 20"/>
          <p:cNvSpPr/>
          <p:nvPr/>
        </p:nvSpPr>
        <p:spPr>
          <a:xfrm>
            <a:off x="5897880" y="2148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character sprites packed together</a:t>
            </a:r>
            <a:endParaRPr lang="en-US" sz="1150"/>
          </a:p>
        </p:txBody>
      </p:sp>
      <p:sp>
        <p:nvSpPr>
          <p:cNvPr id="24" name="Shape 21"/>
          <p:cNvSpPr/>
          <p:nvPr/>
        </p:nvSpPr>
        <p:spPr>
          <a:xfrm>
            <a:off x="5120640" y="2560320"/>
            <a:ext cx="640080" cy="320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5" name="Text 22"/>
          <p:cNvSpPr/>
          <p:nvPr/>
        </p:nvSpPr>
        <p:spPr>
          <a:xfrm>
            <a:off x="5120640" y="2560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.AIR</a:t>
            </a:r>
            <a:endParaRPr lang="en-US" sz="1000"/>
          </a:p>
        </p:txBody>
      </p:sp>
      <p:sp>
        <p:nvSpPr>
          <p:cNvPr id="26" name="Text 23"/>
          <p:cNvSpPr/>
          <p:nvPr/>
        </p:nvSpPr>
        <p:spPr>
          <a:xfrm>
            <a:off x="5897880" y="2560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Animation data  which sprites play when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120640" y="2971800"/>
            <a:ext cx="640080" cy="320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8" name="Text 25"/>
          <p:cNvSpPr/>
          <p:nvPr/>
        </p:nvSpPr>
        <p:spPr>
          <a:xfrm>
            <a:off x="5120640" y="2971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.CMD</a:t>
            </a:r>
            <a:endParaRPr lang="en-US" sz="1000"/>
          </a:p>
        </p:txBody>
      </p:sp>
      <p:sp>
        <p:nvSpPr>
          <p:cNvPr id="29" name="Text 26"/>
          <p:cNvSpPr/>
          <p:nvPr/>
        </p:nvSpPr>
        <p:spPr>
          <a:xfrm>
            <a:off x="589788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Command file input combos for moves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120640" y="3383280"/>
            <a:ext cx="640080" cy="320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1" name="Text 28"/>
          <p:cNvSpPr/>
          <p:nvPr/>
        </p:nvSpPr>
        <p:spPr>
          <a:xfrm>
            <a:off x="5120640" y="3383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.CNS</a:t>
            </a:r>
            <a:endParaRPr lang="en-US" sz="1000"/>
          </a:p>
        </p:txBody>
      </p:sp>
      <p:sp>
        <p:nvSpPr>
          <p:cNvPr id="32" name="Text 29"/>
          <p:cNvSpPr/>
          <p:nvPr/>
        </p:nvSpPr>
        <p:spPr>
          <a:xfrm>
            <a:off x="589788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>
                <a:solidFill>
                  <a:srgbClr val="444444"/>
                </a:solidFill>
                <a:latin typeface="Calibri"/>
                <a:ea typeface="Calibri"/>
                <a:cs typeface="Calibri"/>
              </a:rPr>
              <a:t>Constants,  health, speed, hitboxes, states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5120640" y="3794760"/>
            <a:ext cx="640080" cy="32004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4" name="Text 31"/>
          <p:cNvSpPr/>
          <p:nvPr/>
        </p:nvSpPr>
        <p:spPr>
          <a:xfrm>
            <a:off x="5120640" y="3794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.SND</a:t>
            </a:r>
            <a:endParaRPr lang="en-US" sz="1000"/>
          </a:p>
        </p:txBody>
      </p:sp>
      <p:sp>
        <p:nvSpPr>
          <p:cNvPr id="35" name="Text 32"/>
          <p:cNvSpPr/>
          <p:nvPr/>
        </p:nvSpPr>
        <p:spPr>
          <a:xfrm>
            <a:off x="589788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effects (punches, grunts, etc.)</a:t>
            </a:r>
            <a:endParaRPr lang="en-US" sz="1150"/>
          </a:p>
        </p:txBody>
      </p:sp>
      <p:sp>
        <p:nvSpPr>
          <p:cNvPr id="36" name="Text 33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4: Writing the DEF &amp; CNS Files</a:t>
            </a:r>
            <a:endParaRPr lang="en-US" sz="3000"/>
          </a:p>
        </p:txBody>
      </p:sp>
      <p:sp>
        <p:nvSpPr>
          <p:cNvPr id="5" name="Shape 2"/>
          <p:cNvSpPr/>
          <p:nvPr/>
        </p:nvSpPr>
        <p:spPr>
          <a:xfrm>
            <a:off x="456769" y="1097280"/>
            <a:ext cx="3931920" cy="3291840"/>
          </a:xfrm>
          <a:prstGeom prst="rect">
            <a:avLst/>
          </a:prstGeom>
          <a:solidFill>
            <a:srgbClr val="0D0D1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097280"/>
            <a:ext cx="3931920" cy="32004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mychar.def</a:t>
            </a:r>
            <a:endParaRPr lang="en-US" sz="1100"/>
          </a:p>
        </p:txBody>
      </p:sp>
      <p:sp>
        <p:nvSpPr>
          <p:cNvPr id="7" name="Text 4"/>
          <p:cNvSpPr/>
          <p:nvPr/>
        </p:nvSpPr>
        <p:spPr>
          <a:xfrm>
            <a:off x="822960" y="15544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</a:t>
            </a:r>
            <a:endParaRPr lang="en-US" sz="1050"/>
          </a:p>
          <a:p>
            <a:pPr marL="0" indent="0">
              <a:lnSpc>
                <a:spcPct val="130000"/>
              </a:lnSpc>
              <a:buNone/>
            </a:pPr>
            <a:r>
              <a:rPr lang="en-US" sz="10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"My Character"</a:t>
            </a:r>
            <a:endParaRPr lang="en-US" sz="1050"/>
          </a:p>
          <a:p>
            <a:pPr marL="0" indent="0">
              <a:lnSpc>
                <a:spcPct val="130000"/>
              </a:lnSpc>
              <a:buNone/>
            </a:pPr>
            <a:r>
              <a:rPr lang="en-US" sz="10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displayname = "My Character"</a:t>
            </a:r>
            <a:endParaRPr lang="en-US" sz="1050"/>
          </a:p>
          <a:p>
            <a:pPr marL="0" indent="0">
              <a:lnSpc>
                <a:spcPct val="130000"/>
              </a:lnSpc>
              <a:buNone/>
            </a:pPr>
            <a:r>
              <a:rPr lang="en-US" sz="10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 = "Your Name"</a:t>
            </a:r>
            <a:endParaRPr lang="en-US" sz="1050"/>
          </a:p>
          <a:p>
            <a:pPr marL="0" indent="0">
              <a:lnSpc>
                <a:spcPct val="130000"/>
              </a:lnSpc>
              <a:buNone/>
            </a:pPr>
            <a:endParaRPr lang="en-US" sz="1050"/>
          </a:p>
          <a:p>
            <a:pPr marL="0" indent="0">
              <a:lnSpc>
                <a:spcPct val="130000"/>
              </a:lnSpc>
              <a:buNone/>
            </a:pPr>
            <a:r>
              <a:rPr lang="en-US" sz="10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[Files]</a:t>
            </a:r>
            <a:endParaRPr lang="en-US" sz="1050"/>
          </a:p>
          <a:p>
            <a:pPr marL="0" indent="0">
              <a:lnSpc>
                <a:spcPct val="130000"/>
              </a:lnSpc>
              <a:buNone/>
            </a:pPr>
            <a:r>
              <a:rPr lang="en-US" sz="10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sprite = mychar.sff</a:t>
            </a:r>
            <a:endParaRPr lang="en-US" sz="1050"/>
          </a:p>
          <a:p>
            <a:pPr marL="0" indent="0">
              <a:lnSpc>
                <a:spcPct val="130000"/>
              </a:lnSpc>
              <a:buNone/>
            </a:pPr>
            <a:r>
              <a:rPr lang="en-US" sz="10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 = mychar.air</a:t>
            </a:r>
            <a:endParaRPr lang="en-US" sz="1050"/>
          </a:p>
          <a:p>
            <a:pPr marL="0" indent="0">
              <a:lnSpc>
                <a:spcPct val="130000"/>
              </a:lnSpc>
              <a:buNone/>
            </a:pPr>
            <a:r>
              <a:rPr lang="en-US" sz="10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= mychar.cmd</a:t>
            </a:r>
            <a:endParaRPr lang="en-US" sz="1050"/>
          </a:p>
          <a:p>
            <a:pPr marL="0" indent="0">
              <a:lnSpc>
                <a:spcPct val="130000"/>
              </a:lnSpc>
              <a:buNone/>
            </a:pPr>
            <a:r>
              <a:rPr lang="en-US" sz="10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cns = mychar.cns</a:t>
            </a:r>
            <a:endParaRPr lang="en-US" sz="1050"/>
          </a:p>
          <a:p>
            <a:pPr marL="0" indent="0">
              <a:lnSpc>
                <a:spcPct val="130000"/>
              </a:lnSpc>
              <a:buNone/>
            </a:pPr>
            <a:r>
              <a:rPr lang="en-US" sz="10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sound = mychar.snd</a:t>
            </a:r>
            <a:endParaRPr lang="en-US" sz="105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749040" cy="3291840"/>
          </a:xfrm>
          <a:prstGeom prst="rect">
            <a:avLst/>
          </a:prstGeom>
          <a:solidFill>
            <a:srgbClr val="0D0D1F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1097280"/>
            <a:ext cx="3749040" cy="320040"/>
          </a:xfrm>
          <a:prstGeom prst="rect">
            <a:avLst/>
          </a:prstGeom>
          <a:solidFill>
            <a:srgbClr val="F9A82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mychar.cns (snippet)</a:t>
            </a:r>
            <a:endParaRPr lang="en-US" sz="1100"/>
          </a:p>
        </p:txBody>
      </p:sp>
      <p:sp>
        <p:nvSpPr>
          <p:cNvPr id="10" name="Text 7"/>
          <p:cNvSpPr/>
          <p:nvPr/>
        </p:nvSpPr>
        <p:spPr>
          <a:xfrm>
            <a:off x="5029200" y="1691640"/>
            <a:ext cx="3383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[Data]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 = 1000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= 3000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 = 100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defence = 100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[Size]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xscale = 1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yscale = 1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ground.back = 15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ground.front = 16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[Velocity]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walk.fwd = 2.4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walk.back = -2.2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run.fwd = 4.6, 0</a:t>
            </a:r>
            <a:endParaRPr lang="en-US" sz="950"/>
          </a:p>
          <a:p>
            <a:pPr marL="0" indent="0">
              <a:lnSpc>
                <a:spcPct val="120000"/>
              </a:lnSpc>
              <a:buNone/>
            </a:pPr>
            <a:r>
              <a:rPr lang="en-US" sz="95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jump.neu = 0, -8.4</a:t>
            </a:r>
            <a:endParaRPr lang="en-US" sz="950"/>
          </a:p>
        </p:txBody>
      </p:sp>
      <p:sp>
        <p:nvSpPr>
          <p:cNvPr id="11" name="Text 8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5: Importing into MUGEN</a:t>
            </a:r>
            <a:endParaRPr lang="en-US" sz="320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097280"/>
            <a:ext cx="594360" cy="8229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09728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/>
          </a:p>
        </p:txBody>
      </p:sp>
      <p:sp>
        <p:nvSpPr>
          <p:cNvPr id="8" name="Text 5"/>
          <p:cNvSpPr/>
          <p:nvPr/>
        </p:nvSpPr>
        <p:spPr>
          <a:xfrm>
            <a:off x="1417320" y="11704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 your character folder</a:t>
            </a:r>
            <a:endParaRPr lang="en-US" sz="1500"/>
          </a:p>
        </p:txBody>
      </p:sp>
      <p:sp>
        <p:nvSpPr>
          <p:cNvPr id="9" name="Text 6"/>
          <p:cNvSpPr/>
          <p:nvPr/>
        </p:nvSpPr>
        <p:spPr>
          <a:xfrm>
            <a:off x="1417320" y="14813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your entire character folder (e.g. mychar/) inside the MUGEN/chars/ directory.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640080" y="205740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2057400"/>
            <a:ext cx="594360" cy="8229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05740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/>
          </a:p>
        </p:txBody>
      </p:sp>
      <p:sp>
        <p:nvSpPr>
          <p:cNvPr id="13" name="Text 10"/>
          <p:cNvSpPr/>
          <p:nvPr/>
        </p:nvSpPr>
        <p:spPr>
          <a:xfrm>
            <a:off x="1417320" y="21305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select.def</a:t>
            </a:r>
            <a:endParaRPr lang="en-US" sz="1500"/>
          </a:p>
        </p:txBody>
      </p:sp>
      <p:sp>
        <p:nvSpPr>
          <p:cNvPr id="14" name="Text 11"/>
          <p:cNvSpPr/>
          <p:nvPr/>
        </p:nvSpPr>
        <p:spPr>
          <a:xfrm>
            <a:off x="1417320" y="24414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MUGEN/data/ and open select.def in a text editor.</a:t>
            </a:r>
            <a:endParaRPr lang="en-US" sz="1200"/>
          </a:p>
        </p:txBody>
      </p:sp>
      <p:sp>
        <p:nvSpPr>
          <p:cNvPr id="15" name="Shape 12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3017520"/>
            <a:ext cx="594360" cy="8229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01752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/>
          </a:p>
        </p:txBody>
      </p:sp>
      <p:sp>
        <p:nvSpPr>
          <p:cNvPr id="18" name="Text 15"/>
          <p:cNvSpPr/>
          <p:nvPr/>
        </p:nvSpPr>
        <p:spPr>
          <a:xfrm>
            <a:off x="1417320" y="30906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 your character</a:t>
            </a:r>
            <a:endParaRPr lang="en-US" sz="1500"/>
          </a:p>
        </p:txBody>
      </p:sp>
      <p:sp>
        <p:nvSpPr>
          <p:cNvPr id="19" name="Text 16"/>
          <p:cNvSpPr/>
          <p:nvPr/>
        </p:nvSpPr>
        <p:spPr>
          <a:xfrm>
            <a:off x="1417320" y="34015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[Characters] section and add a new line with your folder name: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mychar</a:t>
            </a:r>
            <a:endParaRPr lang="en-US" sz="1200"/>
          </a:p>
        </p:txBody>
      </p:sp>
      <p:sp>
        <p:nvSpPr>
          <p:cNvPr id="20" name="Shape 17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" y="3977640"/>
            <a:ext cx="594360" cy="8229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97764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/>
          </a:p>
        </p:txBody>
      </p:sp>
      <p:sp>
        <p:nvSpPr>
          <p:cNvPr id="23" name="Text 20"/>
          <p:cNvSpPr/>
          <p:nvPr/>
        </p:nvSpPr>
        <p:spPr>
          <a:xfrm>
            <a:off x="1417320" y="4050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 &amp; launch MUGEN</a:t>
            </a:r>
            <a:endParaRPr lang="en-US" sz="1500"/>
          </a:p>
        </p:txBody>
      </p:sp>
      <p:sp>
        <p:nvSpPr>
          <p:cNvPr id="24" name="Text 21"/>
          <p:cNvSpPr/>
          <p:nvPr/>
        </p:nvSpPr>
        <p:spPr>
          <a:xfrm>
            <a:off x="1417320" y="43616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select.def, then run mugen.exe. Your character should appear on the select screen!</a:t>
            </a:r>
            <a:endParaRPr lang="en-US" sz="1200"/>
          </a:p>
        </p:txBody>
      </p:sp>
      <p:sp>
        <p:nvSpPr>
          <p:cNvPr id="25" name="Text 2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Troubleshooting &amp; Tips</a:t>
            </a:r>
            <a:endParaRPr lang="en-US" sz="320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7863840" cy="6858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1430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Character doesn't appear on select screen</a:t>
            </a:r>
            <a:endParaRPr lang="en-US" sz="1300"/>
          </a:p>
        </p:txBody>
      </p:sp>
      <p:sp>
        <p:nvSpPr>
          <p:cNvPr id="7" name="Text 4"/>
          <p:cNvSpPr/>
          <p:nvPr/>
        </p:nvSpPr>
        <p:spPr>
          <a:xfrm>
            <a:off x="914400" y="14264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Check for typos in select.def the folder name must match exactly (case-sensitive on some systems).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40080" y="1874520"/>
            <a:ext cx="7863840" cy="685800"/>
          </a:xfrm>
          <a:prstGeom prst="rect">
            <a:avLst/>
          </a:prstGeom>
          <a:solidFill>
            <a:srgbClr val="FFF9F0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920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MUGEN crashes when selecting character</a:t>
            </a:r>
            <a:endParaRPr lang="en-US" sz="1300"/>
          </a:p>
        </p:txBody>
      </p:sp>
      <p:sp>
        <p:nvSpPr>
          <p:cNvPr id="10" name="Text 7"/>
          <p:cNvSpPr/>
          <p:nvPr/>
        </p:nvSpPr>
        <p:spPr>
          <a:xfrm>
            <a:off x="914400" y="22037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a version mismatch. Make sure your .SFF and .AIR are built for your MUGEN version (1.0 vs 1.1).</a:t>
            </a:r>
            <a:endParaRPr lang="en-US" sz="1150"/>
          </a:p>
        </p:txBody>
      </p:sp>
      <p:sp>
        <p:nvSpPr>
          <p:cNvPr id="11" name="Shape 8"/>
          <p:cNvSpPr/>
          <p:nvPr/>
        </p:nvSpPr>
        <p:spPr>
          <a:xfrm>
            <a:off x="640080" y="2651760"/>
            <a:ext cx="7863840" cy="6858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697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Sprites display with coloured background</a:t>
            </a:r>
            <a:endParaRPr lang="en-US" sz="1300"/>
          </a:p>
        </p:txBody>
      </p:sp>
      <p:sp>
        <p:nvSpPr>
          <p:cNvPr id="13" name="Text 10"/>
          <p:cNvSpPr/>
          <p:nvPr/>
        </p:nvSpPr>
        <p:spPr>
          <a:xfrm>
            <a:off x="914400" y="29809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transparency colour in Fighter Factory. MUGEN uses palette index 0 or a specific colour (often magenta) as transparent.</a:t>
            </a:r>
            <a:endParaRPr lang="en-US" sz="1150"/>
          </a:p>
        </p:txBody>
      </p:sp>
      <p:sp>
        <p:nvSpPr>
          <p:cNvPr id="14" name="Shape 11"/>
          <p:cNvSpPr/>
          <p:nvPr/>
        </p:nvSpPr>
        <p:spPr>
          <a:xfrm>
            <a:off x="640080" y="3429000"/>
            <a:ext cx="7863840" cy="685800"/>
          </a:xfrm>
          <a:prstGeom prst="rect">
            <a:avLst/>
          </a:prstGeom>
          <a:solidFill>
            <a:srgbClr val="FFF9F0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474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Character floats or sinks into the ground</a:t>
            </a:r>
            <a:endParaRPr lang="en-US" sz="1300"/>
          </a:p>
        </p:txBody>
      </p:sp>
      <p:sp>
        <p:nvSpPr>
          <p:cNvPr id="16" name="Text 13"/>
          <p:cNvSpPr/>
          <p:nvPr/>
        </p:nvSpPr>
        <p:spPr>
          <a:xfrm>
            <a:off x="914400" y="37581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axis point in your sprites. The axis should be at the character's feet, on the ground line.</a:t>
            </a:r>
            <a:endParaRPr lang="en-US" sz="1150"/>
          </a:p>
        </p:txBody>
      </p:sp>
      <p:sp>
        <p:nvSpPr>
          <p:cNvPr id="17" name="Shape 14"/>
          <p:cNvSpPr/>
          <p:nvPr/>
        </p:nvSpPr>
        <p:spPr>
          <a:xfrm>
            <a:off x="640080" y="4206240"/>
            <a:ext cx="7863840" cy="6858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251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94560"/>
                </a:solidFill>
                <a:latin typeface="Trebuchet MS"/>
                <a:ea typeface="Trebuchet MS" pitchFamily="34" charset="-122"/>
                <a:cs typeface="Trebuchet MS" pitchFamily="34" charset="-120"/>
              </a:rPr>
              <a:t>No animations character is frozen</a:t>
            </a:r>
            <a:endParaRPr lang="en-US" sz="1300">
              <a:latin typeface="Trebuchet M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14400" y="453542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Double-check your .AIR file. Each action needs animation groups defined with the correct sprite Group/Image numbers.</a:t>
            </a:r>
            <a:endParaRPr lang="en-US" sz="1150"/>
          </a:p>
        </p:txBody>
      </p:sp>
      <p:sp>
        <p:nvSpPr>
          <p:cNvPr id="20" name="Text 17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F346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You're Ready to Create!</a:t>
            </a:r>
            <a:endParaRPr lang="en-US" sz="3200"/>
          </a:p>
        </p:txBody>
      </p:sp>
      <p:sp>
        <p:nvSpPr>
          <p:cNvPr id="7" name="Shape 4"/>
          <p:cNvSpPr/>
          <p:nvPr/>
        </p:nvSpPr>
        <p:spPr>
          <a:xfrm>
            <a:off x="640080" y="1097280"/>
            <a:ext cx="7863840" cy="2011680"/>
          </a:xfrm>
          <a:prstGeom prst="rect">
            <a:avLst/>
          </a:prstGeom>
          <a:solidFill>
            <a:srgbClr val="252547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Recap</a:t>
            </a:r>
            <a:endParaRPr lang="en-US" sz="18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6916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1691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sprites with consistent sizing and a transparent background colour</a:t>
            </a:r>
            <a:endParaRPr lang="en-US" sz="125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03911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0391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sprites into an .SFF using Fighter Factory 3</a:t>
            </a:r>
            <a:endParaRPr lang="en-US" sz="125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38658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5880" y="238658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.DEF, .AIR, .CMD, and .CNS files for your character</a:t>
            </a:r>
            <a:endParaRPr lang="en-US" sz="125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734056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25880" y="27340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folder in MUGEN/chars/ and register in select.def</a:t>
            </a:r>
            <a:endParaRPr lang="en-US" sz="1250"/>
          </a:p>
        </p:txBody>
      </p:sp>
      <p:sp>
        <p:nvSpPr>
          <p:cNvPr id="17" name="Shape 10"/>
          <p:cNvSpPr/>
          <p:nvPr/>
        </p:nvSpPr>
        <p:spPr>
          <a:xfrm>
            <a:off x="640080" y="3383280"/>
            <a:ext cx="7863840" cy="12801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8" name="Text 11"/>
          <p:cNvSpPr/>
          <p:nvPr/>
        </p:nvSpPr>
        <p:spPr>
          <a:xfrm>
            <a:off x="91440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1600"/>
          </a:p>
        </p:txBody>
      </p:sp>
      <p:sp>
        <p:nvSpPr>
          <p:cNvPr id="19" name="Text 12"/>
          <p:cNvSpPr/>
          <p:nvPr/>
        </p:nvSpPr>
        <p:spPr>
          <a:xfrm>
            <a:off x="9144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moves </a:t>
            </a: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(special attacks, grabs, supers)   |  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custom stage </a:t>
            </a: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sound effects </a:t>
            </a: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character online!</a:t>
            </a:r>
            <a:endParaRPr lang="en-US" sz="1300"/>
          </a:p>
        </p:txBody>
      </p:sp>
      <p:sp>
        <p:nvSpPr>
          <p:cNvPr id="20" name="Text 13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MUGEN Beginner Guide: Draw &amp; Add Your Character</dc:title>
  <dc:subject>PptxGenJS Presentation</dc:subject>
  <dc:creator>MUGEN Guide</dc:creator>
  <cp:revision>2</cp:revision>
  <dcterms:created xsi:type="dcterms:W3CDTF">2026-03-19T11:38:58Z</dcterms:created>
  <dcterms:modified xsi:type="dcterms:W3CDTF">2026-03-20T10:43:30Z</dcterms:modified>
</cp:coreProperties>
</file>